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Playfair Display"/>
      <p:regular r:id="rId21"/>
      <p:bold r:id="rId22"/>
      <p:italic r:id="rId23"/>
      <p:boldItalic r:id="rId24"/>
    </p:embeddedFont>
    <p:embeddedFont>
      <p:font typeface="Int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46823F-917C-4B99-9AF6-E145EB075D49}">
  <a:tblStyle styleId="{9646823F-917C-4B99-9AF6-E145EB075D4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fairDisplay-bold.fntdata"/><Relationship Id="rId21" Type="http://schemas.openxmlformats.org/officeDocument/2006/relationships/font" Target="fonts/PlayfairDisplay-regular.fntdata"/><Relationship Id="rId24" Type="http://schemas.openxmlformats.org/officeDocument/2006/relationships/font" Target="fonts/PlayfairDisplay-boldItalic.fntdata"/><Relationship Id="rId23" Type="http://schemas.openxmlformats.org/officeDocument/2006/relationships/font" Target="fonts/PlayfairDispl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a68d82e88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a68d82e8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a68d82e8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a68d82e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27.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9.png"/><Relationship Id="rId7"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1.png"/><Relationship Id="rId9" Type="http://schemas.openxmlformats.org/officeDocument/2006/relationships/image" Target="../media/image37.png"/><Relationship Id="rId5" Type="http://schemas.openxmlformats.org/officeDocument/2006/relationships/image" Target="../media/image27.png"/><Relationship Id="rId6" Type="http://schemas.openxmlformats.org/officeDocument/2006/relationships/image" Target="../media/image6.png"/><Relationship Id="rId7" Type="http://schemas.openxmlformats.org/officeDocument/2006/relationships/image" Target="../media/image34.png"/><Relationship Id="rId8"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6.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3815715" y="1951732"/>
            <a:ext cx="4560600" cy="207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350" u="none" cap="none" strike="noStrike">
                <a:solidFill>
                  <a:srgbClr val="64748B"/>
                </a:solidFill>
                <a:latin typeface="Playfair Display"/>
                <a:ea typeface="Playfair Display"/>
                <a:cs typeface="Playfair Display"/>
                <a:sym typeface="Playfair Display"/>
              </a:rPr>
              <a:t>DIGITAL EGYPT PIONEERS </a:t>
            </a:r>
            <a:r>
              <a:rPr b="1" lang="en-US" sz="1350">
                <a:solidFill>
                  <a:srgbClr val="64748B"/>
                </a:solidFill>
                <a:latin typeface="Playfair Display"/>
                <a:ea typeface="Playfair Display"/>
                <a:cs typeface="Playfair Display"/>
                <a:sym typeface="Playfair Display"/>
              </a:rPr>
              <a:t>GRADUATION</a:t>
            </a:r>
            <a:r>
              <a:rPr b="1" lang="en-US" sz="1350">
                <a:solidFill>
                  <a:srgbClr val="64748B"/>
                </a:solidFill>
                <a:latin typeface="Playfair Display"/>
                <a:ea typeface="Playfair Display"/>
                <a:cs typeface="Playfair Display"/>
                <a:sym typeface="Playfair Display"/>
              </a:rPr>
              <a:t> </a:t>
            </a:r>
            <a:r>
              <a:rPr b="1" i="0" lang="en-US" sz="1350" u="none" cap="none" strike="noStrike">
                <a:solidFill>
                  <a:srgbClr val="64748B"/>
                </a:solidFill>
                <a:latin typeface="Playfair Display"/>
                <a:ea typeface="Playfair Display"/>
                <a:cs typeface="Playfair Display"/>
                <a:sym typeface="Playfair Display"/>
              </a:rPr>
              <a:t>PROJECT</a:t>
            </a:r>
            <a:endParaRPr/>
          </a:p>
        </p:txBody>
      </p:sp>
      <p:sp>
        <p:nvSpPr>
          <p:cNvPr id="86" name="Google Shape;86;p13"/>
          <p:cNvSpPr txBox="1"/>
          <p:nvPr/>
        </p:nvSpPr>
        <p:spPr>
          <a:xfrm>
            <a:off x="2410539" y="2300287"/>
            <a:ext cx="7370921"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0F172A"/>
                </a:solidFill>
                <a:latin typeface="Playfair Display"/>
                <a:ea typeface="Playfair Display"/>
                <a:cs typeface="Playfair Display"/>
                <a:sym typeface="Playfair Display"/>
              </a:rPr>
              <a:t>Healthcare Data Analysis</a:t>
            </a:r>
            <a:endParaRPr/>
          </a:p>
        </p:txBody>
      </p:sp>
      <p:sp>
        <p:nvSpPr>
          <p:cNvPr id="87" name="Google Shape;87;p13"/>
          <p:cNvSpPr txBox="1"/>
          <p:nvPr/>
        </p:nvSpPr>
        <p:spPr>
          <a:xfrm>
            <a:off x="2286000" y="3222277"/>
            <a:ext cx="7620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Comprehensive Insights into Patient Records and Resource Optimization using Power BI &amp; Excel</a:t>
            </a:r>
            <a:endParaRPr/>
          </a:p>
        </p:txBody>
      </p:sp>
      <p:sp>
        <p:nvSpPr>
          <p:cNvPr id="88" name="Google Shape;88;p13"/>
          <p:cNvSpPr txBox="1"/>
          <p:nvPr/>
        </p:nvSpPr>
        <p:spPr>
          <a:xfrm>
            <a:off x="4100512" y="4563219"/>
            <a:ext cx="3990975"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369A1"/>
                </a:solidFill>
                <a:latin typeface="Inter"/>
                <a:ea typeface="Inter"/>
                <a:cs typeface="Inter"/>
                <a:sym typeface="Inter"/>
              </a:rPr>
              <a:t>55,500 Patient Records</a:t>
            </a:r>
            <a:r>
              <a:rPr b="0" i="0" lang="en-US" sz="1200" u="none" cap="none" strike="noStrike">
                <a:solidFill>
                  <a:srgbClr val="334155"/>
                </a:solidFill>
                <a:latin typeface="Inter"/>
                <a:ea typeface="Inter"/>
                <a:cs typeface="Inter"/>
                <a:sym typeface="Inter"/>
              </a:rPr>
              <a:t> </a:t>
            </a:r>
            <a:r>
              <a:rPr b="1" i="0" lang="en-US" sz="1200" u="none" cap="none" strike="noStrike">
                <a:solidFill>
                  <a:srgbClr val="15803D"/>
                </a:solidFill>
                <a:latin typeface="Inter"/>
                <a:ea typeface="Inter"/>
                <a:cs typeface="Inter"/>
                <a:sym typeface="Inter"/>
              </a:rPr>
              <a:t>Data Analysis Track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94" name="Google Shape;94;p14" title="Screenshot 2025-11-27 135815.png"/>
          <p:cNvPicPr preferRelativeResize="0"/>
          <p:nvPr/>
        </p:nvPicPr>
        <p:blipFill rotWithShape="1">
          <a:blip r:embed="rId4">
            <a:alphaModFix/>
          </a:blip>
          <a:srcRect b="0" l="16093" r="0" t="0"/>
          <a:stretch/>
        </p:blipFill>
        <p:spPr>
          <a:xfrm>
            <a:off x="6041950" y="1977250"/>
            <a:ext cx="5884524" cy="3727900"/>
          </a:xfrm>
          <a:prstGeom prst="rect">
            <a:avLst/>
          </a:prstGeom>
          <a:noFill/>
          <a:ln>
            <a:noFill/>
          </a:ln>
        </p:spPr>
      </p:pic>
      <p:sp>
        <p:nvSpPr>
          <p:cNvPr id="95" name="Google Shape;95;p14"/>
          <p:cNvSpPr txBox="1"/>
          <p:nvPr/>
        </p:nvSpPr>
        <p:spPr>
          <a:xfrm>
            <a:off x="571500" y="2221259"/>
            <a:ext cx="523875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This report provides a detailed analysis of a healthcare dataset containing </a:t>
            </a:r>
            <a:r>
              <a:rPr b="1" i="0" lang="en-US" sz="1350" u="none" cap="none" strike="noStrike">
                <a:solidFill>
                  <a:srgbClr val="334155"/>
                </a:solidFill>
                <a:latin typeface="Inter"/>
                <a:ea typeface="Inter"/>
                <a:cs typeface="Inter"/>
                <a:sym typeface="Inter"/>
              </a:rPr>
              <a:t>55,500 patient records</a:t>
            </a:r>
            <a:r>
              <a:rPr b="0" i="0" lang="en-US" sz="1350" u="none" cap="none" strike="noStrike">
                <a:solidFill>
                  <a:srgbClr val="334155"/>
                </a:solidFill>
                <a:latin typeface="Inter"/>
                <a:ea typeface="Inter"/>
                <a:cs typeface="Inter"/>
                <a:sym typeface="Inter"/>
              </a:rPr>
              <a:t> from various U.S. hospitals. By leveraging advanced analytics, we aim to uncover patterns in clinical and financial metrics to enhance decision-making.</a:t>
            </a:r>
            <a:endParaRPr/>
          </a:p>
        </p:txBody>
      </p:sp>
      <p:sp>
        <p:nvSpPr>
          <p:cNvPr id="96" name="Google Shape;96;p14"/>
          <p:cNvSpPr txBox="1"/>
          <p:nvPr/>
        </p:nvSpPr>
        <p:spPr>
          <a:xfrm>
            <a:off x="857250" y="3832770"/>
            <a:ext cx="4953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Scope:</a:t>
            </a:r>
            <a:r>
              <a:rPr b="0" i="0" lang="en-US" sz="1350" u="none" cap="none" strike="noStrike">
                <a:solidFill>
                  <a:srgbClr val="334155"/>
                </a:solidFill>
                <a:latin typeface="Inter"/>
                <a:ea typeface="Inter"/>
                <a:cs typeface="Inter"/>
                <a:sym typeface="Inter"/>
              </a:rPr>
              <a:t> Demographic, Clinical, and Financial data analysis.</a:t>
            </a:r>
            <a:endParaRPr/>
          </a:p>
        </p:txBody>
      </p:sp>
      <p:sp>
        <p:nvSpPr>
          <p:cNvPr id="97" name="Google Shape;97;p14"/>
          <p:cNvSpPr txBox="1"/>
          <p:nvPr/>
        </p:nvSpPr>
        <p:spPr>
          <a:xfrm>
            <a:off x="857250" y="4249935"/>
            <a:ext cx="4953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Findings:</a:t>
            </a:r>
            <a:r>
              <a:rPr b="0" i="0" lang="en-US" sz="1350" u="none" cap="none" strike="noStrike">
                <a:solidFill>
                  <a:srgbClr val="334155"/>
                </a:solidFill>
                <a:latin typeface="Inter"/>
                <a:ea typeface="Inter"/>
                <a:cs typeface="Inter"/>
                <a:sym typeface="Inter"/>
              </a:rPr>
              <a:t> Identified significant disparities in billing based on age and admission type.</a:t>
            </a:r>
            <a:endParaRPr/>
          </a:p>
        </p:txBody>
      </p:sp>
      <p:sp>
        <p:nvSpPr>
          <p:cNvPr id="98" name="Google Shape;98;p14"/>
          <p:cNvSpPr txBox="1"/>
          <p:nvPr/>
        </p:nvSpPr>
        <p:spPr>
          <a:xfrm>
            <a:off x="857250" y="4941391"/>
            <a:ext cx="4953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Goal:</a:t>
            </a:r>
            <a:r>
              <a:rPr b="0" i="0" lang="en-US" sz="1350" u="none" cap="none" strike="noStrike">
                <a:solidFill>
                  <a:srgbClr val="334155"/>
                </a:solidFill>
                <a:latin typeface="Inter"/>
                <a:ea typeface="Inter"/>
                <a:cs typeface="Inter"/>
                <a:sym typeface="Inter"/>
              </a:rPr>
              <a:t> Optimize resource allocation and reduce long-term costs.</a:t>
            </a:r>
            <a:endParaRPr/>
          </a:p>
        </p:txBody>
      </p:sp>
      <p:sp>
        <p:nvSpPr>
          <p:cNvPr id="99" name="Google Shape;99;p14"/>
          <p:cNvSpPr txBox="1"/>
          <p:nvPr/>
        </p:nvSpPr>
        <p:spPr>
          <a:xfrm>
            <a:off x="571500" y="5715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Executive Summary</a:t>
            </a:r>
            <a:endParaRPr/>
          </a:p>
        </p:txBody>
      </p:sp>
      <p:pic>
        <p:nvPicPr>
          <p:cNvPr descr="image.png" id="100" name="Google Shape;100;p14"/>
          <p:cNvPicPr preferRelativeResize="0"/>
          <p:nvPr/>
        </p:nvPicPr>
        <p:blipFill rotWithShape="1">
          <a:blip r:embed="rId5">
            <a:alphaModFix/>
          </a:blip>
          <a:srcRect b="0" l="0" r="0" t="0"/>
          <a:stretch/>
        </p:blipFill>
        <p:spPr>
          <a:xfrm>
            <a:off x="571500" y="3870870"/>
            <a:ext cx="152400" cy="180975"/>
          </a:xfrm>
          <a:prstGeom prst="rect">
            <a:avLst/>
          </a:prstGeom>
          <a:noFill/>
          <a:ln>
            <a:noFill/>
          </a:ln>
        </p:spPr>
      </p:pic>
      <p:pic>
        <p:nvPicPr>
          <p:cNvPr descr="image.png" id="101" name="Google Shape;101;p14"/>
          <p:cNvPicPr preferRelativeResize="0"/>
          <p:nvPr/>
        </p:nvPicPr>
        <p:blipFill rotWithShape="1">
          <a:blip r:embed="rId5">
            <a:alphaModFix/>
          </a:blip>
          <a:srcRect b="0" l="0" r="0" t="0"/>
          <a:stretch/>
        </p:blipFill>
        <p:spPr>
          <a:xfrm>
            <a:off x="571500" y="4288035"/>
            <a:ext cx="152400" cy="180975"/>
          </a:xfrm>
          <a:prstGeom prst="rect">
            <a:avLst/>
          </a:prstGeom>
          <a:noFill/>
          <a:ln>
            <a:noFill/>
          </a:ln>
        </p:spPr>
      </p:pic>
      <p:pic>
        <p:nvPicPr>
          <p:cNvPr descr="image.png" id="102" name="Google Shape;102;p14"/>
          <p:cNvPicPr preferRelativeResize="0"/>
          <p:nvPr/>
        </p:nvPicPr>
        <p:blipFill rotWithShape="1">
          <a:blip r:embed="rId5">
            <a:alphaModFix/>
          </a:blip>
          <a:srcRect b="0" l="0" r="0" t="0"/>
          <a:stretch/>
        </p:blipFill>
        <p:spPr>
          <a:xfrm>
            <a:off x="571500" y="4979491"/>
            <a:ext cx="152400" cy="18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6" name="Shape 106"/>
        <p:cNvGrpSpPr/>
        <p:nvPr/>
      </p:nvGrpSpPr>
      <p:grpSpPr>
        <a:xfrm>
          <a:off x="0" y="0"/>
          <a:ext cx="0" cy="0"/>
          <a:chOff x="0" y="0"/>
          <a:chExt cx="0" cy="0"/>
        </a:xfrm>
      </p:grpSpPr>
      <p:pic>
        <p:nvPicPr>
          <p:cNvPr descr="image.png" id="107" name="Google Shape;107;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8" name="Google Shape;108;p15"/>
          <p:cNvPicPr preferRelativeResize="0"/>
          <p:nvPr/>
        </p:nvPicPr>
        <p:blipFill rotWithShape="1">
          <a:blip r:embed="rId4">
            <a:alphaModFix/>
          </a:blip>
          <a:srcRect b="0" l="0" r="0" t="0"/>
          <a:stretch/>
        </p:blipFill>
        <p:spPr>
          <a:xfrm>
            <a:off x="571500" y="2479327"/>
            <a:ext cx="3492549" cy="2733526"/>
          </a:xfrm>
          <a:prstGeom prst="rect">
            <a:avLst/>
          </a:prstGeom>
          <a:noFill/>
          <a:ln>
            <a:noFill/>
          </a:ln>
        </p:spPr>
      </p:pic>
      <p:pic>
        <p:nvPicPr>
          <p:cNvPr descr="image.png" id="109" name="Google Shape;109;p15"/>
          <p:cNvPicPr preferRelativeResize="0"/>
          <p:nvPr/>
        </p:nvPicPr>
        <p:blipFill rotWithShape="1">
          <a:blip r:embed="rId5">
            <a:alphaModFix/>
          </a:blip>
          <a:srcRect b="0" l="0" r="0" t="0"/>
          <a:stretch/>
        </p:blipFill>
        <p:spPr>
          <a:xfrm>
            <a:off x="4349799" y="2479327"/>
            <a:ext cx="3492549" cy="2733526"/>
          </a:xfrm>
          <a:prstGeom prst="rect">
            <a:avLst/>
          </a:prstGeom>
          <a:noFill/>
          <a:ln>
            <a:noFill/>
          </a:ln>
        </p:spPr>
      </p:pic>
      <p:pic>
        <p:nvPicPr>
          <p:cNvPr descr="image.png" id="110" name="Google Shape;110;p15"/>
          <p:cNvPicPr preferRelativeResize="0"/>
          <p:nvPr/>
        </p:nvPicPr>
        <p:blipFill rotWithShape="1">
          <a:blip r:embed="rId6">
            <a:alphaModFix/>
          </a:blip>
          <a:srcRect b="0" l="0" r="0" t="0"/>
          <a:stretch/>
        </p:blipFill>
        <p:spPr>
          <a:xfrm>
            <a:off x="8128099" y="2479327"/>
            <a:ext cx="3492549" cy="2733526"/>
          </a:xfrm>
          <a:prstGeom prst="rect">
            <a:avLst/>
          </a:prstGeom>
          <a:noFill/>
          <a:ln>
            <a:noFill/>
          </a:ln>
        </p:spPr>
      </p:pic>
      <p:sp>
        <p:nvSpPr>
          <p:cNvPr id="111" name="Google Shape;111;p15"/>
          <p:cNvSpPr txBox="1"/>
          <p:nvPr/>
        </p:nvSpPr>
        <p:spPr>
          <a:xfrm>
            <a:off x="571500" y="1644997"/>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FFFFF"/>
                </a:solidFill>
                <a:latin typeface="Playfair Display"/>
                <a:ea typeface="Playfair Display"/>
                <a:cs typeface="Playfair Display"/>
                <a:sym typeface="Playfair Display"/>
              </a:rPr>
              <a:t>Purpose &amp; Significance</a:t>
            </a:r>
            <a:endParaRPr/>
          </a:p>
        </p:txBody>
      </p:sp>
      <p:sp>
        <p:nvSpPr>
          <p:cNvPr id="112" name="Google Shape;112;p15"/>
          <p:cNvSpPr txBox="1"/>
          <p:nvPr/>
        </p:nvSpPr>
        <p:spPr>
          <a:xfrm>
            <a:off x="794225"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FFFFFF"/>
                </a:solidFill>
                <a:latin typeface="Playfair Display"/>
                <a:ea typeface="Playfair Display"/>
                <a:cs typeface="Playfair Display"/>
                <a:sym typeface="Playfair Display"/>
              </a:rPr>
              <a:t>Hospital Admins</a:t>
            </a:r>
            <a:endParaRPr/>
          </a:p>
        </p:txBody>
      </p:sp>
      <p:sp>
        <p:nvSpPr>
          <p:cNvPr id="113" name="Google Shape;113;p15"/>
          <p:cNvSpPr txBox="1"/>
          <p:nvPr/>
        </p:nvSpPr>
        <p:spPr>
          <a:xfrm>
            <a:off x="866775"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Optimize resource allocation in high-demand areas like emergency departments.</a:t>
            </a:r>
            <a:endParaRPr/>
          </a:p>
        </p:txBody>
      </p:sp>
      <p:sp>
        <p:nvSpPr>
          <p:cNvPr id="114" name="Google Shape;114;p15"/>
          <p:cNvSpPr txBox="1"/>
          <p:nvPr/>
        </p:nvSpPr>
        <p:spPr>
          <a:xfrm>
            <a:off x="4572524"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FFFFFF"/>
                </a:solidFill>
                <a:latin typeface="Playfair Display"/>
                <a:ea typeface="Playfair Display"/>
                <a:cs typeface="Playfair Display"/>
                <a:sym typeface="Playfair Display"/>
              </a:rPr>
              <a:t>Policymakers</a:t>
            </a:r>
            <a:endParaRPr/>
          </a:p>
        </p:txBody>
      </p:sp>
      <p:sp>
        <p:nvSpPr>
          <p:cNvPr id="115" name="Google Shape;115;p15"/>
          <p:cNvSpPr txBox="1"/>
          <p:nvPr/>
        </p:nvSpPr>
        <p:spPr>
          <a:xfrm>
            <a:off x="4645074"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Formulate evidence-based initiatives, such as targeted vaccination programs.</a:t>
            </a:r>
            <a:endParaRPr/>
          </a:p>
        </p:txBody>
      </p:sp>
      <p:sp>
        <p:nvSpPr>
          <p:cNvPr id="116" name="Google Shape;116;p15"/>
          <p:cNvSpPr txBox="1"/>
          <p:nvPr/>
        </p:nvSpPr>
        <p:spPr>
          <a:xfrm>
            <a:off x="8350824"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FFFFFF"/>
                </a:solidFill>
                <a:latin typeface="Playfair Display"/>
                <a:ea typeface="Playfair Display"/>
                <a:cs typeface="Playfair Display"/>
                <a:sym typeface="Playfair Display"/>
              </a:rPr>
              <a:t>Insurers</a:t>
            </a:r>
            <a:endParaRPr/>
          </a:p>
        </p:txBody>
      </p:sp>
      <p:sp>
        <p:nvSpPr>
          <p:cNvPr id="117" name="Google Shape;117;p15"/>
          <p:cNvSpPr txBox="1"/>
          <p:nvPr/>
        </p:nvSpPr>
        <p:spPr>
          <a:xfrm>
            <a:off x="8423374"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Assess risks accurately and develop more precise pricing models.</a:t>
            </a:r>
            <a:endParaRPr/>
          </a:p>
        </p:txBody>
      </p:sp>
      <p:pic>
        <p:nvPicPr>
          <p:cNvPr descr="image.png" id="118" name="Google Shape;118;p15"/>
          <p:cNvPicPr preferRelativeResize="0"/>
          <p:nvPr/>
        </p:nvPicPr>
        <p:blipFill rotWithShape="1">
          <a:blip r:embed="rId7">
            <a:alphaModFix/>
          </a:blip>
          <a:srcRect b="0" l="0" r="0" t="0"/>
          <a:stretch/>
        </p:blipFill>
        <p:spPr>
          <a:xfrm>
            <a:off x="2103387" y="2812702"/>
            <a:ext cx="428625" cy="381000"/>
          </a:xfrm>
          <a:prstGeom prst="rect">
            <a:avLst/>
          </a:prstGeom>
          <a:noFill/>
          <a:ln>
            <a:noFill/>
          </a:ln>
        </p:spPr>
      </p:pic>
      <p:pic>
        <p:nvPicPr>
          <p:cNvPr descr="image.png" id="119" name="Google Shape;119;p15"/>
          <p:cNvPicPr preferRelativeResize="0"/>
          <p:nvPr/>
        </p:nvPicPr>
        <p:blipFill rotWithShape="1">
          <a:blip r:embed="rId8">
            <a:alphaModFix/>
          </a:blip>
          <a:srcRect b="0" l="0" r="0" t="0"/>
          <a:stretch/>
        </p:blipFill>
        <p:spPr>
          <a:xfrm>
            <a:off x="5857875" y="2812702"/>
            <a:ext cx="476250" cy="381000"/>
          </a:xfrm>
          <a:prstGeom prst="rect">
            <a:avLst/>
          </a:prstGeom>
          <a:noFill/>
          <a:ln>
            <a:noFill/>
          </a:ln>
        </p:spPr>
      </p:pic>
      <p:pic>
        <p:nvPicPr>
          <p:cNvPr descr="image.png" id="120" name="Google Shape;120;p15"/>
          <p:cNvPicPr preferRelativeResize="0"/>
          <p:nvPr/>
        </p:nvPicPr>
        <p:blipFill rotWithShape="1">
          <a:blip r:embed="rId9">
            <a:alphaModFix/>
          </a:blip>
          <a:srcRect b="0" l="0" r="0" t="0"/>
          <a:stretch/>
        </p:blipFill>
        <p:spPr>
          <a:xfrm>
            <a:off x="9731424" y="2812702"/>
            <a:ext cx="285750" cy="381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pic>
        <p:nvPicPr>
          <p:cNvPr descr="image.png" id="125" name="Google Shape;125;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6" name="Google Shape;126;p16"/>
          <p:cNvSpPr txBox="1"/>
          <p:nvPr/>
        </p:nvSpPr>
        <p:spPr>
          <a:xfrm>
            <a:off x="571500" y="2399407"/>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A comprehensive look at the 55,500 patient records across key categories:</a:t>
            </a:r>
            <a:endParaRPr/>
          </a:p>
        </p:txBody>
      </p:sp>
      <p:graphicFrame>
        <p:nvGraphicFramePr>
          <p:cNvPr id="127" name="Google Shape;127;p16"/>
          <p:cNvGraphicFramePr/>
          <p:nvPr/>
        </p:nvGraphicFramePr>
        <p:xfrm>
          <a:off x="571500" y="2864197"/>
          <a:ext cx="3000000" cy="3000000"/>
        </p:xfrm>
        <a:graphic>
          <a:graphicData uri="http://schemas.openxmlformats.org/drawingml/2006/table">
            <a:tbl>
              <a:tblPr bandRow="1" firstRow="1">
                <a:noFill/>
                <a:tableStyleId>{9646823F-917C-4B99-9AF6-E145EB075D49}</a:tableStyleId>
              </a:tblPr>
              <a:tblGrid>
                <a:gridCol w="2209800"/>
                <a:gridCol w="5911900"/>
                <a:gridCol w="2927300"/>
              </a:tblGrid>
              <a:tr h="520025">
                <a:tc>
                  <a:txBody>
                    <a:bodyPr/>
                    <a:lstStyle/>
                    <a:p>
                      <a:pPr indent="0" lvl="0" marL="0" marR="0" rtl="0" algn="l">
                        <a:spcBef>
                          <a:spcPts val="0"/>
                        </a:spcBef>
                        <a:spcAft>
                          <a:spcPts val="0"/>
                        </a:spcAft>
                        <a:buNone/>
                      </a:pPr>
                      <a:r>
                        <a:rPr b="1" i="0" lang="en-US" sz="1350" u="none" cap="none" strike="noStrike">
                          <a:solidFill>
                            <a:srgbClr val="FFFFFF"/>
                          </a:solidFill>
                          <a:latin typeface="Inter"/>
                          <a:ea typeface="Inter"/>
                          <a:cs typeface="Inter"/>
                          <a:sym typeface="Inter"/>
                        </a:rPr>
                        <a:t>Category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EA5E9"/>
                    </a:solidFill>
                  </a:tcPr>
                </a:tc>
                <a:tc>
                  <a:txBody>
                    <a:bodyPr/>
                    <a:lstStyle/>
                    <a:p>
                      <a:pPr indent="0" lvl="0" marL="0" marR="0" rtl="0" algn="l">
                        <a:spcBef>
                          <a:spcPts val="0"/>
                        </a:spcBef>
                        <a:spcAft>
                          <a:spcPts val="0"/>
                        </a:spcAft>
                        <a:buNone/>
                      </a:pPr>
                      <a:r>
                        <a:rPr b="1" i="0" lang="en-US" sz="1350" u="none" cap="none" strike="noStrike">
                          <a:solidFill>
                            <a:srgbClr val="FFFFFF"/>
                          </a:solidFill>
                          <a:latin typeface="Inter"/>
                          <a:ea typeface="Inter"/>
                          <a:cs typeface="Inter"/>
                          <a:sym typeface="Inter"/>
                        </a:rPr>
                        <a:t>Key Columns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EA5E9"/>
                    </a:solidFill>
                  </a:tcPr>
                </a:tc>
                <a:tc>
                  <a:txBody>
                    <a:bodyPr/>
                    <a:lstStyle/>
                    <a:p>
                      <a:pPr indent="0" lvl="0" marL="0" marR="0" rtl="0" algn="l">
                        <a:spcBef>
                          <a:spcPts val="0"/>
                        </a:spcBef>
                        <a:spcAft>
                          <a:spcPts val="0"/>
                        </a:spcAft>
                        <a:buNone/>
                      </a:pPr>
                      <a:r>
                        <a:rPr b="1" i="0" lang="en-US" sz="1350" u="none" cap="none" strike="noStrike">
                          <a:solidFill>
                            <a:srgbClr val="FFFFFF"/>
                          </a:solidFill>
                          <a:latin typeface="Inter"/>
                          <a:ea typeface="Inter"/>
                          <a:cs typeface="Inter"/>
                          <a:sym typeface="Inter"/>
                        </a:rPr>
                        <a:t>Example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EA5E9"/>
                    </a:solidFill>
                  </a:tcPr>
                </a:tc>
              </a:tr>
              <a:tr h="520025">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Demographics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PatientID, State, Hospital, Sex, Age, AgeCategory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Age 30-34, Male, 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0025">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Clinical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BMI, Blood Type, Chronic Conditions (Diabetes, COPD...)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Type O+, HadAsthma: Yes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0025">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Lifestyle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SmokerStatus, AlcoholDrinkers, FluVaxLast12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Former Smoker, Vax: Yes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0025">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Financial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Billing Amount, Admission Type, Discharge 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$18,856, Emergency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28" name="Google Shape;128;p16"/>
          <p:cNvSpPr/>
          <p:nvPr/>
        </p:nvSpPr>
        <p:spPr>
          <a:xfrm>
            <a:off x="571500" y="3922365"/>
            <a:ext cx="22098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6"/>
          <p:cNvSpPr/>
          <p:nvPr/>
        </p:nvSpPr>
        <p:spPr>
          <a:xfrm>
            <a:off x="2781300" y="3922365"/>
            <a:ext cx="591189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6"/>
          <p:cNvSpPr/>
          <p:nvPr/>
        </p:nvSpPr>
        <p:spPr>
          <a:xfrm>
            <a:off x="8693199" y="3922365"/>
            <a:ext cx="292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p:nvPr/>
        </p:nvSpPr>
        <p:spPr>
          <a:xfrm>
            <a:off x="571500" y="4434780"/>
            <a:ext cx="22098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6"/>
          <p:cNvSpPr/>
          <p:nvPr/>
        </p:nvSpPr>
        <p:spPr>
          <a:xfrm>
            <a:off x="2781300" y="4434780"/>
            <a:ext cx="591189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6"/>
          <p:cNvSpPr/>
          <p:nvPr/>
        </p:nvSpPr>
        <p:spPr>
          <a:xfrm>
            <a:off x="8693199" y="4434780"/>
            <a:ext cx="292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p:nvPr/>
        </p:nvSpPr>
        <p:spPr>
          <a:xfrm>
            <a:off x="571500" y="4947195"/>
            <a:ext cx="22098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p:nvPr/>
        </p:nvSpPr>
        <p:spPr>
          <a:xfrm>
            <a:off x="2781300" y="4947195"/>
            <a:ext cx="591189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6"/>
          <p:cNvSpPr/>
          <p:nvPr/>
        </p:nvSpPr>
        <p:spPr>
          <a:xfrm>
            <a:off x="8693199" y="4947195"/>
            <a:ext cx="292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571500" y="5715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Dataset Overview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pic>
        <p:nvPicPr>
          <p:cNvPr descr="image.png" id="142" name="Google Shape;142;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3" name="Google Shape;143;p17"/>
          <p:cNvPicPr preferRelativeResize="0"/>
          <p:nvPr/>
        </p:nvPicPr>
        <p:blipFill rotWithShape="1">
          <a:blip r:embed="rId4">
            <a:alphaModFix/>
          </a:blip>
          <a:srcRect b="0" l="0" r="0" t="0"/>
          <a:stretch/>
        </p:blipFill>
        <p:spPr>
          <a:xfrm>
            <a:off x="571500" y="2479327"/>
            <a:ext cx="3492549" cy="2733526"/>
          </a:xfrm>
          <a:prstGeom prst="rect">
            <a:avLst/>
          </a:prstGeom>
          <a:noFill/>
          <a:ln>
            <a:noFill/>
          </a:ln>
        </p:spPr>
      </p:pic>
      <p:pic>
        <p:nvPicPr>
          <p:cNvPr descr="image.png" id="144" name="Google Shape;144;p17"/>
          <p:cNvPicPr preferRelativeResize="0"/>
          <p:nvPr/>
        </p:nvPicPr>
        <p:blipFill rotWithShape="1">
          <a:blip r:embed="rId5">
            <a:alphaModFix/>
          </a:blip>
          <a:srcRect b="0" l="0" r="0" t="0"/>
          <a:stretch/>
        </p:blipFill>
        <p:spPr>
          <a:xfrm>
            <a:off x="4349799" y="2479327"/>
            <a:ext cx="3492549" cy="2733526"/>
          </a:xfrm>
          <a:prstGeom prst="rect">
            <a:avLst/>
          </a:prstGeom>
          <a:noFill/>
          <a:ln>
            <a:noFill/>
          </a:ln>
        </p:spPr>
      </p:pic>
      <p:pic>
        <p:nvPicPr>
          <p:cNvPr descr="image.png" id="145" name="Google Shape;145;p17"/>
          <p:cNvPicPr preferRelativeResize="0"/>
          <p:nvPr/>
        </p:nvPicPr>
        <p:blipFill rotWithShape="1">
          <a:blip r:embed="rId6">
            <a:alphaModFix/>
          </a:blip>
          <a:srcRect b="0" l="0" r="0" t="0"/>
          <a:stretch/>
        </p:blipFill>
        <p:spPr>
          <a:xfrm>
            <a:off x="8128099" y="2479327"/>
            <a:ext cx="3492549" cy="2733526"/>
          </a:xfrm>
          <a:prstGeom prst="rect">
            <a:avLst/>
          </a:prstGeom>
          <a:noFill/>
          <a:ln>
            <a:noFill/>
          </a:ln>
        </p:spPr>
      </p:pic>
      <p:pic>
        <p:nvPicPr>
          <p:cNvPr descr="image.png" id="146" name="Google Shape;146;p17"/>
          <p:cNvPicPr preferRelativeResize="0"/>
          <p:nvPr/>
        </p:nvPicPr>
        <p:blipFill rotWithShape="1">
          <a:blip r:embed="rId7">
            <a:alphaModFix/>
          </a:blip>
          <a:srcRect b="0" l="0" r="0" t="0"/>
          <a:stretch/>
        </p:blipFill>
        <p:spPr>
          <a:xfrm>
            <a:off x="4645074" y="2774602"/>
            <a:ext cx="2901999" cy="466725"/>
          </a:xfrm>
          <a:prstGeom prst="rect">
            <a:avLst/>
          </a:prstGeom>
          <a:noFill/>
          <a:ln>
            <a:noFill/>
          </a:ln>
        </p:spPr>
      </p:pic>
      <p:pic>
        <p:nvPicPr>
          <p:cNvPr descr="image.png" id="147" name="Google Shape;147;p17"/>
          <p:cNvPicPr preferRelativeResize="0"/>
          <p:nvPr/>
        </p:nvPicPr>
        <p:blipFill rotWithShape="1">
          <a:blip r:embed="rId7">
            <a:alphaModFix/>
          </a:blip>
          <a:srcRect b="0" l="0" r="0" t="0"/>
          <a:stretch/>
        </p:blipFill>
        <p:spPr>
          <a:xfrm>
            <a:off x="8423374" y="2774602"/>
            <a:ext cx="2901999" cy="466725"/>
          </a:xfrm>
          <a:prstGeom prst="rect">
            <a:avLst/>
          </a:prstGeom>
          <a:noFill/>
          <a:ln>
            <a:noFill/>
          </a:ln>
        </p:spPr>
      </p:pic>
      <p:sp>
        <p:nvSpPr>
          <p:cNvPr id="148" name="Google Shape;148;p17"/>
          <p:cNvSpPr txBox="1"/>
          <p:nvPr/>
        </p:nvSpPr>
        <p:spPr>
          <a:xfrm>
            <a:off x="794225"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0369A1"/>
                </a:solidFill>
                <a:latin typeface="Playfair Display"/>
                <a:ea typeface="Playfair Display"/>
                <a:cs typeface="Playfair Display"/>
                <a:sym typeface="Playfair Display"/>
              </a:rPr>
              <a:t>Microsoft Excel</a:t>
            </a:r>
            <a:endParaRPr/>
          </a:p>
        </p:txBody>
      </p:sp>
      <p:sp>
        <p:nvSpPr>
          <p:cNvPr id="149" name="Google Shape;149;p17"/>
          <p:cNvSpPr txBox="1"/>
          <p:nvPr/>
        </p:nvSpPr>
        <p:spPr>
          <a:xfrm>
            <a:off x="866775"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Initial data cleaning, outlier removal, and calculating core metrics like Length of Stay.</a:t>
            </a:r>
            <a:endParaRPr/>
          </a:p>
        </p:txBody>
      </p:sp>
      <p:sp>
        <p:nvSpPr>
          <p:cNvPr id="150" name="Google Shape;150;p17"/>
          <p:cNvSpPr txBox="1"/>
          <p:nvPr/>
        </p:nvSpPr>
        <p:spPr>
          <a:xfrm>
            <a:off x="4572524"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0369A1"/>
                </a:solidFill>
                <a:latin typeface="Playfair Display"/>
                <a:ea typeface="Playfair Display"/>
                <a:cs typeface="Playfair Display"/>
                <a:sym typeface="Playfair Display"/>
              </a:rPr>
              <a:t>Power BI</a:t>
            </a:r>
            <a:endParaRPr/>
          </a:p>
        </p:txBody>
      </p:sp>
      <p:sp>
        <p:nvSpPr>
          <p:cNvPr id="151" name="Google Shape;151;p17"/>
          <p:cNvSpPr txBox="1"/>
          <p:nvPr/>
        </p:nvSpPr>
        <p:spPr>
          <a:xfrm>
            <a:off x="4645074"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Data modeling and interactive dashboards with dynamic filtering for state-level analysis.</a:t>
            </a:r>
            <a:endParaRPr/>
          </a:p>
        </p:txBody>
      </p:sp>
      <p:sp>
        <p:nvSpPr>
          <p:cNvPr id="152" name="Google Shape;152;p17"/>
          <p:cNvSpPr txBox="1"/>
          <p:nvPr/>
        </p:nvSpPr>
        <p:spPr>
          <a:xfrm>
            <a:off x="8350824"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0369A1"/>
                </a:solidFill>
                <a:latin typeface="Playfair Display"/>
                <a:ea typeface="Playfair Display"/>
                <a:cs typeface="Playfair Display"/>
                <a:sym typeface="Playfair Display"/>
              </a:rPr>
              <a:t>Tableau</a:t>
            </a:r>
            <a:endParaRPr/>
          </a:p>
        </p:txBody>
      </p:sp>
      <p:sp>
        <p:nvSpPr>
          <p:cNvPr id="153" name="Google Shape;153;p17"/>
          <p:cNvSpPr txBox="1"/>
          <p:nvPr/>
        </p:nvSpPr>
        <p:spPr>
          <a:xfrm>
            <a:off x="8423374"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Advanced geospatial visualizations and trend lines for narrative storytelling.</a:t>
            </a:r>
            <a:endParaRPr/>
          </a:p>
        </p:txBody>
      </p:sp>
      <p:pic>
        <p:nvPicPr>
          <p:cNvPr descr="image.png" id="154" name="Google Shape;154;p17"/>
          <p:cNvPicPr preferRelativeResize="0"/>
          <p:nvPr/>
        </p:nvPicPr>
        <p:blipFill rotWithShape="1">
          <a:blip r:embed="rId8">
            <a:alphaModFix/>
          </a:blip>
          <a:srcRect b="0" l="0" r="0" t="0"/>
          <a:stretch/>
        </p:blipFill>
        <p:spPr>
          <a:xfrm>
            <a:off x="2174825" y="2812702"/>
            <a:ext cx="285750" cy="381000"/>
          </a:xfrm>
          <a:prstGeom prst="rect">
            <a:avLst/>
          </a:prstGeom>
          <a:noFill/>
          <a:ln>
            <a:noFill/>
          </a:ln>
        </p:spPr>
      </p:pic>
      <p:sp>
        <p:nvSpPr>
          <p:cNvPr id="155" name="Google Shape;155;p17"/>
          <p:cNvSpPr txBox="1"/>
          <p:nvPr/>
        </p:nvSpPr>
        <p:spPr>
          <a:xfrm>
            <a:off x="571500" y="5715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Tools &amp; Technologies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1" name="Google Shape;161;p18"/>
          <p:cNvSpPr txBox="1"/>
          <p:nvPr/>
        </p:nvSpPr>
        <p:spPr>
          <a:xfrm>
            <a:off x="571500" y="762000"/>
            <a:ext cx="52006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Methodology Workflow</a:t>
            </a:r>
            <a:endParaRPr/>
          </a:p>
        </p:txBody>
      </p:sp>
      <p:pic>
        <p:nvPicPr>
          <p:cNvPr id="162" name="Google Shape;162;p18" title="Screenshot 2025-11-27 144529.png"/>
          <p:cNvPicPr preferRelativeResize="0"/>
          <p:nvPr/>
        </p:nvPicPr>
        <p:blipFill rotWithShape="1">
          <a:blip r:embed="rId4">
            <a:alphaModFix/>
          </a:blip>
          <a:srcRect b="960" l="-1244" r="51264" t="-960"/>
          <a:stretch/>
        </p:blipFill>
        <p:spPr>
          <a:xfrm>
            <a:off x="6096000" y="0"/>
            <a:ext cx="6096001" cy="6858000"/>
          </a:xfrm>
          <a:prstGeom prst="rect">
            <a:avLst/>
          </a:prstGeom>
          <a:noFill/>
          <a:ln>
            <a:noFill/>
          </a:ln>
        </p:spPr>
      </p:pic>
      <p:sp>
        <p:nvSpPr>
          <p:cNvPr id="163" name="Google Shape;163;p18"/>
          <p:cNvSpPr txBox="1"/>
          <p:nvPr/>
        </p:nvSpPr>
        <p:spPr>
          <a:xfrm>
            <a:off x="857250" y="2136576"/>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1. Data Import:</a:t>
            </a:r>
            <a:r>
              <a:rPr b="0" i="0" lang="en-US" sz="1350" u="none" cap="none" strike="noStrike">
                <a:solidFill>
                  <a:srgbClr val="334155"/>
                </a:solidFill>
                <a:latin typeface="Inter"/>
                <a:ea typeface="Inter"/>
                <a:cs typeface="Inter"/>
                <a:sym typeface="Inter"/>
              </a:rPr>
              <a:t> Loading CSV files and verifying integrity of 40+ columns.</a:t>
            </a:r>
            <a:endParaRPr/>
          </a:p>
        </p:txBody>
      </p:sp>
      <p:sp>
        <p:nvSpPr>
          <p:cNvPr id="164" name="Google Shape;164;p18"/>
          <p:cNvSpPr txBox="1"/>
          <p:nvPr/>
        </p:nvSpPr>
        <p:spPr>
          <a:xfrm>
            <a:off x="857250" y="2828032"/>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2. Data Cleaning:</a:t>
            </a:r>
            <a:r>
              <a:rPr b="0" i="0" lang="en-US" sz="1350" u="none" cap="none" strike="noStrike">
                <a:solidFill>
                  <a:srgbClr val="334155"/>
                </a:solidFill>
                <a:latin typeface="Inter"/>
                <a:ea typeface="Inter"/>
                <a:cs typeface="Inter"/>
                <a:sym typeface="Inter"/>
              </a:rPr>
              <a:t> Removing outliers (e.g., BMI &lt; 10) and imputing missing values.</a:t>
            </a:r>
            <a:endParaRPr/>
          </a:p>
        </p:txBody>
      </p:sp>
      <p:sp>
        <p:nvSpPr>
          <p:cNvPr id="165" name="Google Shape;165;p18"/>
          <p:cNvSpPr txBox="1"/>
          <p:nvPr/>
        </p:nvSpPr>
        <p:spPr>
          <a:xfrm>
            <a:off x="857250" y="3519487"/>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3. EDA:</a:t>
            </a:r>
            <a:r>
              <a:rPr b="0" i="0" lang="en-US" sz="1350" u="none" cap="none" strike="noStrike">
                <a:solidFill>
                  <a:srgbClr val="334155"/>
                </a:solidFill>
                <a:latin typeface="Inter"/>
                <a:ea typeface="Inter"/>
                <a:cs typeface="Inter"/>
                <a:sym typeface="Inter"/>
              </a:rPr>
              <a:t> Exploratory Data Analysis to identify initial correlations.</a:t>
            </a:r>
            <a:endParaRPr/>
          </a:p>
        </p:txBody>
      </p:sp>
      <p:sp>
        <p:nvSpPr>
          <p:cNvPr id="166" name="Google Shape;166;p18"/>
          <p:cNvSpPr txBox="1"/>
          <p:nvPr/>
        </p:nvSpPr>
        <p:spPr>
          <a:xfrm>
            <a:off x="857250" y="4210942"/>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4. Feature Engineering:</a:t>
            </a:r>
            <a:r>
              <a:rPr b="0" i="0" lang="en-US" sz="1350" u="none" cap="none" strike="noStrike">
                <a:solidFill>
                  <a:srgbClr val="334155"/>
                </a:solidFill>
                <a:latin typeface="Inter"/>
                <a:ea typeface="Inter"/>
                <a:cs typeface="Inter"/>
                <a:sym typeface="Inter"/>
              </a:rPr>
              <a:t> Creating derived columns for deeper insights.</a:t>
            </a:r>
            <a:endParaRPr/>
          </a:p>
        </p:txBody>
      </p:sp>
      <p:sp>
        <p:nvSpPr>
          <p:cNvPr id="167" name="Google Shape;167;p18"/>
          <p:cNvSpPr txBox="1"/>
          <p:nvPr/>
        </p:nvSpPr>
        <p:spPr>
          <a:xfrm>
            <a:off x="857250" y="4902398"/>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5. Visualization:</a:t>
            </a:r>
            <a:r>
              <a:rPr b="0" i="0" lang="en-US" sz="1350" u="none" cap="none" strike="noStrike">
                <a:solidFill>
                  <a:srgbClr val="334155"/>
                </a:solidFill>
                <a:latin typeface="Inter"/>
                <a:ea typeface="Inter"/>
                <a:cs typeface="Inter"/>
                <a:sym typeface="Inter"/>
              </a:rPr>
              <a:t> Building dashboards in Power BI and Tableau.</a:t>
            </a:r>
            <a:endParaRPr/>
          </a:p>
        </p:txBody>
      </p:sp>
      <p:pic>
        <p:nvPicPr>
          <p:cNvPr descr="image.png" id="168" name="Google Shape;168;p18"/>
          <p:cNvPicPr preferRelativeResize="0"/>
          <p:nvPr/>
        </p:nvPicPr>
        <p:blipFill rotWithShape="1">
          <a:blip r:embed="rId5">
            <a:alphaModFix/>
          </a:blip>
          <a:srcRect b="0" l="0" r="0" t="0"/>
          <a:stretch/>
        </p:blipFill>
        <p:spPr>
          <a:xfrm>
            <a:off x="571500" y="2174676"/>
            <a:ext cx="152400" cy="180975"/>
          </a:xfrm>
          <a:prstGeom prst="rect">
            <a:avLst/>
          </a:prstGeom>
          <a:noFill/>
          <a:ln>
            <a:noFill/>
          </a:ln>
        </p:spPr>
      </p:pic>
      <p:pic>
        <p:nvPicPr>
          <p:cNvPr descr="image.png" id="169" name="Google Shape;169;p18"/>
          <p:cNvPicPr preferRelativeResize="0"/>
          <p:nvPr/>
        </p:nvPicPr>
        <p:blipFill rotWithShape="1">
          <a:blip r:embed="rId5">
            <a:alphaModFix/>
          </a:blip>
          <a:srcRect b="0" l="0" r="0" t="0"/>
          <a:stretch/>
        </p:blipFill>
        <p:spPr>
          <a:xfrm>
            <a:off x="571500" y="2866132"/>
            <a:ext cx="152400" cy="180975"/>
          </a:xfrm>
          <a:prstGeom prst="rect">
            <a:avLst/>
          </a:prstGeom>
          <a:noFill/>
          <a:ln>
            <a:noFill/>
          </a:ln>
        </p:spPr>
      </p:pic>
      <p:pic>
        <p:nvPicPr>
          <p:cNvPr descr="image.png" id="170" name="Google Shape;170;p18"/>
          <p:cNvPicPr preferRelativeResize="0"/>
          <p:nvPr/>
        </p:nvPicPr>
        <p:blipFill rotWithShape="1">
          <a:blip r:embed="rId5">
            <a:alphaModFix/>
          </a:blip>
          <a:srcRect b="0" l="0" r="0" t="0"/>
          <a:stretch/>
        </p:blipFill>
        <p:spPr>
          <a:xfrm>
            <a:off x="571500" y="3557587"/>
            <a:ext cx="152400" cy="180975"/>
          </a:xfrm>
          <a:prstGeom prst="rect">
            <a:avLst/>
          </a:prstGeom>
          <a:noFill/>
          <a:ln>
            <a:noFill/>
          </a:ln>
        </p:spPr>
      </p:pic>
      <p:pic>
        <p:nvPicPr>
          <p:cNvPr descr="image.png" id="171" name="Google Shape;171;p18"/>
          <p:cNvPicPr preferRelativeResize="0"/>
          <p:nvPr/>
        </p:nvPicPr>
        <p:blipFill rotWithShape="1">
          <a:blip r:embed="rId5">
            <a:alphaModFix/>
          </a:blip>
          <a:srcRect b="0" l="0" r="0" t="0"/>
          <a:stretch/>
        </p:blipFill>
        <p:spPr>
          <a:xfrm>
            <a:off x="571500" y="4249042"/>
            <a:ext cx="152400" cy="180975"/>
          </a:xfrm>
          <a:prstGeom prst="rect">
            <a:avLst/>
          </a:prstGeom>
          <a:noFill/>
          <a:ln>
            <a:noFill/>
          </a:ln>
        </p:spPr>
      </p:pic>
      <p:pic>
        <p:nvPicPr>
          <p:cNvPr descr="image.png" id="172" name="Google Shape;172;p18"/>
          <p:cNvPicPr preferRelativeResize="0"/>
          <p:nvPr/>
        </p:nvPicPr>
        <p:blipFill rotWithShape="1">
          <a:blip r:embed="rId5">
            <a:alphaModFix/>
          </a:blip>
          <a:srcRect b="0" l="0" r="0" t="0"/>
          <a:stretch/>
        </p:blipFill>
        <p:spPr>
          <a:xfrm>
            <a:off x="571500" y="4940498"/>
            <a:ext cx="152400" cy="18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pic>
        <p:nvPicPr>
          <p:cNvPr descr="image.png" id="177" name="Google Shape;177;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8" name="Google Shape;178;p19"/>
          <p:cNvPicPr preferRelativeResize="0"/>
          <p:nvPr/>
        </p:nvPicPr>
        <p:blipFill rotWithShape="1">
          <a:blip r:embed="rId4">
            <a:alphaModFix/>
          </a:blip>
          <a:srcRect b="0" l="0" r="0" t="0"/>
          <a:stretch/>
        </p:blipFill>
        <p:spPr>
          <a:xfrm>
            <a:off x="6381750" y="1703040"/>
            <a:ext cx="5238750" cy="4286250"/>
          </a:xfrm>
          <a:prstGeom prst="rect">
            <a:avLst/>
          </a:prstGeom>
          <a:noFill/>
          <a:ln>
            <a:noFill/>
          </a:ln>
        </p:spPr>
      </p:pic>
      <p:pic>
        <p:nvPicPr>
          <p:cNvPr descr="image.png" id="179" name="Google Shape;179;p19"/>
          <p:cNvPicPr preferRelativeResize="0"/>
          <p:nvPr/>
        </p:nvPicPr>
        <p:blipFill rotWithShape="1">
          <a:blip r:embed="rId5">
            <a:alphaModFix/>
          </a:blip>
          <a:srcRect b="0" l="0" r="0" t="0"/>
          <a:stretch/>
        </p:blipFill>
        <p:spPr>
          <a:xfrm>
            <a:off x="571500" y="3055590"/>
            <a:ext cx="5238750" cy="1259085"/>
          </a:xfrm>
          <a:prstGeom prst="rect">
            <a:avLst/>
          </a:prstGeom>
          <a:noFill/>
          <a:ln>
            <a:noFill/>
          </a:ln>
        </p:spPr>
      </p:pic>
      <p:pic>
        <p:nvPicPr>
          <p:cNvPr descr="image.png" id="180" name="Google Shape;180;p19"/>
          <p:cNvPicPr preferRelativeResize="0"/>
          <p:nvPr/>
        </p:nvPicPr>
        <p:blipFill rotWithShape="1">
          <a:blip r:embed="rId6">
            <a:alphaModFix/>
          </a:blip>
          <a:srcRect b="0" l="0" r="0" t="0"/>
          <a:stretch/>
        </p:blipFill>
        <p:spPr>
          <a:xfrm>
            <a:off x="571500" y="4505176"/>
            <a:ext cx="5238750" cy="1259085"/>
          </a:xfrm>
          <a:prstGeom prst="rect">
            <a:avLst/>
          </a:prstGeom>
          <a:noFill/>
          <a:ln>
            <a:noFill/>
          </a:ln>
        </p:spPr>
      </p:pic>
      <p:sp>
        <p:nvSpPr>
          <p:cNvPr id="181" name="Google Shape;181;p19"/>
          <p:cNvSpPr txBox="1"/>
          <p:nvPr/>
        </p:nvSpPr>
        <p:spPr>
          <a:xfrm>
            <a:off x="571500" y="1927919"/>
            <a:ext cx="5500687"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0369A1"/>
                </a:solidFill>
                <a:latin typeface="Playfair Display"/>
                <a:ea typeface="Playfair Display"/>
                <a:cs typeface="Playfair Display"/>
                <a:sym typeface="Playfair Display"/>
              </a:rPr>
              <a:t>Ensuring Data Quality</a:t>
            </a:r>
            <a:endParaRPr/>
          </a:p>
        </p:txBody>
      </p:sp>
      <p:sp>
        <p:nvSpPr>
          <p:cNvPr id="182" name="Google Shape;182;p19"/>
          <p:cNvSpPr txBox="1"/>
          <p:nvPr/>
        </p:nvSpPr>
        <p:spPr>
          <a:xfrm>
            <a:off x="571500" y="2419350"/>
            <a:ext cx="52387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Before analysis, we applied rigorous cleaning steps in Excel:</a:t>
            </a:r>
            <a:endParaRPr/>
          </a:p>
        </p:txBody>
      </p:sp>
      <p:pic>
        <p:nvPicPr>
          <p:cNvPr id="183" name="Google Shape;183;p19" title="Screenshot 2025-11-27 144607.png"/>
          <p:cNvPicPr preferRelativeResize="0"/>
          <p:nvPr/>
        </p:nvPicPr>
        <p:blipFill rotWithShape="1">
          <a:blip r:embed="rId7">
            <a:alphaModFix/>
          </a:blip>
          <a:srcRect b="0" l="15791" r="15785" t="0"/>
          <a:stretch/>
        </p:blipFill>
        <p:spPr>
          <a:xfrm>
            <a:off x="6381750" y="1703040"/>
            <a:ext cx="5238751" cy="4286251"/>
          </a:xfrm>
          <a:prstGeom prst="rect">
            <a:avLst/>
          </a:prstGeom>
          <a:noFill/>
          <a:ln>
            <a:noFill/>
          </a:ln>
        </p:spPr>
      </p:pic>
      <p:sp>
        <p:nvSpPr>
          <p:cNvPr id="184" name="Google Shape;184;p19"/>
          <p:cNvSpPr txBox="1"/>
          <p:nvPr/>
        </p:nvSpPr>
        <p:spPr>
          <a:xfrm>
            <a:off x="800100" y="3246090"/>
            <a:ext cx="133350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Handling Outliers:</a:t>
            </a:r>
            <a:endParaRPr/>
          </a:p>
        </p:txBody>
      </p:sp>
      <p:sp>
        <p:nvSpPr>
          <p:cNvPr id="185" name="Google Shape;185;p19"/>
          <p:cNvSpPr txBox="1"/>
          <p:nvPr/>
        </p:nvSpPr>
        <p:spPr>
          <a:xfrm>
            <a:off x="781050" y="3569940"/>
            <a:ext cx="48198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Inter"/>
                <a:ea typeface="Inter"/>
                <a:cs typeface="Inter"/>
                <a:sym typeface="Inter"/>
              </a:rPr>
              <a:t>Removed biologically impossible values, such as BMI &lt; 10 or &gt; 50.</a:t>
            </a:r>
            <a:endParaRPr/>
          </a:p>
        </p:txBody>
      </p:sp>
      <p:sp>
        <p:nvSpPr>
          <p:cNvPr id="186" name="Google Shape;186;p19"/>
          <p:cNvSpPr txBox="1"/>
          <p:nvPr/>
        </p:nvSpPr>
        <p:spPr>
          <a:xfrm>
            <a:off x="800100" y="4695676"/>
            <a:ext cx="8572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Imputation:</a:t>
            </a:r>
            <a:endParaRPr/>
          </a:p>
        </p:txBody>
      </p:sp>
      <p:sp>
        <p:nvSpPr>
          <p:cNvPr id="187" name="Google Shape;187;p19"/>
          <p:cNvSpPr txBox="1"/>
          <p:nvPr/>
        </p:nvSpPr>
        <p:spPr>
          <a:xfrm>
            <a:off x="800100" y="4933801"/>
            <a:ext cx="48196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Inter"/>
                <a:ea typeface="Inter"/>
                <a:cs typeface="Inter"/>
                <a:sym typeface="Inter"/>
              </a:rPr>
              <a:t>Filled missing 'Billing Amount' values using the mean for the respective admission type.</a:t>
            </a:r>
            <a:endParaRPr/>
          </a:p>
        </p:txBody>
      </p:sp>
      <p:sp>
        <p:nvSpPr>
          <p:cNvPr id="188" name="Google Shape;188;p19"/>
          <p:cNvSpPr txBox="1"/>
          <p:nvPr/>
        </p:nvSpPr>
        <p:spPr>
          <a:xfrm>
            <a:off x="571500" y="5715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Data Cleaning Process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pic>
        <p:nvPicPr>
          <p:cNvPr descr="image.png" id="193" name="Google Shape;193;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4" name="Google Shape;194;p20"/>
          <p:cNvPicPr preferRelativeResize="0"/>
          <p:nvPr/>
        </p:nvPicPr>
        <p:blipFill rotWithShape="1">
          <a:blip r:embed="rId4">
            <a:alphaModFix/>
          </a:blip>
          <a:srcRect b="0" l="0" r="0" t="0"/>
          <a:stretch/>
        </p:blipFill>
        <p:spPr>
          <a:xfrm>
            <a:off x="571500" y="2763738"/>
            <a:ext cx="5238750" cy="1515219"/>
          </a:xfrm>
          <a:prstGeom prst="rect">
            <a:avLst/>
          </a:prstGeom>
          <a:noFill/>
          <a:ln>
            <a:noFill/>
          </a:ln>
        </p:spPr>
      </p:pic>
      <p:pic>
        <p:nvPicPr>
          <p:cNvPr descr="image.png" id="195" name="Google Shape;195;p20"/>
          <p:cNvPicPr preferRelativeResize="0"/>
          <p:nvPr/>
        </p:nvPicPr>
        <p:blipFill rotWithShape="1">
          <a:blip r:embed="rId5">
            <a:alphaModFix/>
          </a:blip>
          <a:srcRect b="0" l="0" r="0" t="0"/>
          <a:stretch/>
        </p:blipFill>
        <p:spPr>
          <a:xfrm>
            <a:off x="571500" y="4469457"/>
            <a:ext cx="5238750" cy="1160115"/>
          </a:xfrm>
          <a:prstGeom prst="rect">
            <a:avLst/>
          </a:prstGeom>
          <a:noFill/>
          <a:ln>
            <a:noFill/>
          </a:ln>
        </p:spPr>
      </p:pic>
      <p:pic>
        <p:nvPicPr>
          <p:cNvPr descr="image.png" id="196" name="Google Shape;196;p20"/>
          <p:cNvPicPr preferRelativeResize="0"/>
          <p:nvPr/>
        </p:nvPicPr>
        <p:blipFill rotWithShape="1">
          <a:blip r:embed="rId6">
            <a:alphaModFix/>
          </a:blip>
          <a:srcRect b="0" l="0" r="0" t="0"/>
          <a:stretch/>
        </p:blipFill>
        <p:spPr>
          <a:xfrm>
            <a:off x="6381750" y="2090886"/>
            <a:ext cx="5238750" cy="1443781"/>
          </a:xfrm>
          <a:prstGeom prst="rect">
            <a:avLst/>
          </a:prstGeom>
          <a:noFill/>
          <a:ln>
            <a:noFill/>
          </a:ln>
        </p:spPr>
      </p:pic>
      <p:pic>
        <p:nvPicPr>
          <p:cNvPr descr="image.png" id="197" name="Google Shape;197;p20"/>
          <p:cNvPicPr preferRelativeResize="0"/>
          <p:nvPr/>
        </p:nvPicPr>
        <p:blipFill rotWithShape="1">
          <a:blip r:embed="rId7">
            <a:alphaModFix/>
          </a:blip>
          <a:srcRect b="0" l="0" r="0" t="0"/>
          <a:stretch/>
        </p:blipFill>
        <p:spPr>
          <a:xfrm>
            <a:off x="6381750" y="3725167"/>
            <a:ext cx="5238750" cy="1685776"/>
          </a:xfrm>
          <a:prstGeom prst="rect">
            <a:avLst/>
          </a:prstGeom>
          <a:noFill/>
          <a:ln>
            <a:noFill/>
          </a:ln>
        </p:spPr>
      </p:pic>
      <p:sp>
        <p:nvSpPr>
          <p:cNvPr id="198" name="Google Shape;198;p20"/>
          <p:cNvSpPr txBox="1"/>
          <p:nvPr/>
        </p:nvSpPr>
        <p:spPr>
          <a:xfrm>
            <a:off x="571500" y="2043707"/>
            <a:ext cx="5238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We enhanced the dataset by calculating new indicators to assess health risks and efficiency.</a:t>
            </a:r>
            <a:endParaRPr/>
          </a:p>
        </p:txBody>
      </p:sp>
      <p:sp>
        <p:nvSpPr>
          <p:cNvPr id="199" name="Google Shape;199;p20"/>
          <p:cNvSpPr txBox="1"/>
          <p:nvPr/>
        </p:nvSpPr>
        <p:spPr>
          <a:xfrm>
            <a:off x="809625" y="2954238"/>
            <a:ext cx="18859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1. Body Mass Index (BMI)</a:t>
            </a:r>
            <a:endParaRPr/>
          </a:p>
        </p:txBody>
      </p:sp>
      <p:sp>
        <p:nvSpPr>
          <p:cNvPr id="200" name="Google Shape;200;p20"/>
          <p:cNvSpPr txBox="1"/>
          <p:nvPr/>
        </p:nvSpPr>
        <p:spPr>
          <a:xfrm>
            <a:off x="809625" y="3741836"/>
            <a:ext cx="4810125"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64748B"/>
                </a:solidFill>
                <a:latin typeface="Inter"/>
                <a:ea typeface="Inter"/>
                <a:cs typeface="Inter"/>
                <a:sym typeface="Inter"/>
              </a:rPr>
              <a:t>Classified into Underweight, Normal, Overweight, Obese.</a:t>
            </a:r>
            <a:endParaRPr/>
          </a:p>
        </p:txBody>
      </p:sp>
      <p:sp>
        <p:nvSpPr>
          <p:cNvPr id="201" name="Google Shape;201;p20"/>
          <p:cNvSpPr txBox="1"/>
          <p:nvPr/>
        </p:nvSpPr>
        <p:spPr>
          <a:xfrm>
            <a:off x="809625" y="4659957"/>
            <a:ext cx="16954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2. Length of Stay (LoS)</a:t>
            </a:r>
            <a:endParaRPr/>
          </a:p>
        </p:txBody>
      </p:sp>
      <p:sp>
        <p:nvSpPr>
          <p:cNvPr id="202" name="Google Shape;202;p20"/>
          <p:cNvSpPr/>
          <p:nvPr/>
        </p:nvSpPr>
        <p:spPr>
          <a:xfrm>
            <a:off x="809625" y="4898082"/>
            <a:ext cx="4810125" cy="369540"/>
          </a:xfrm>
          <a:prstGeom prst="roundRect">
            <a:avLst>
              <a:gd fmla="val 1666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0"/>
          <p:cNvSpPr txBox="1"/>
          <p:nvPr/>
        </p:nvSpPr>
        <p:spPr>
          <a:xfrm>
            <a:off x="857250" y="4945707"/>
            <a:ext cx="47148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Arial"/>
                <a:ea typeface="Arial"/>
                <a:cs typeface="Arial"/>
                <a:sym typeface="Arial"/>
              </a:rPr>
              <a:t>= DATEDIF([Admission], [Discharge], "D")</a:t>
            </a:r>
            <a:endParaRPr/>
          </a:p>
        </p:txBody>
      </p:sp>
      <p:sp>
        <p:nvSpPr>
          <p:cNvPr id="204" name="Google Shape;204;p20"/>
          <p:cNvSpPr txBox="1"/>
          <p:nvPr/>
        </p:nvSpPr>
        <p:spPr>
          <a:xfrm>
            <a:off x="6619875" y="2281386"/>
            <a:ext cx="172402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3. Cost per Patient Day</a:t>
            </a:r>
            <a:endParaRPr/>
          </a:p>
        </p:txBody>
      </p:sp>
      <p:sp>
        <p:nvSpPr>
          <p:cNvPr id="205" name="Google Shape;205;p20"/>
          <p:cNvSpPr txBox="1"/>
          <p:nvPr/>
        </p:nvSpPr>
        <p:spPr>
          <a:xfrm>
            <a:off x="6619875" y="2997547"/>
            <a:ext cx="4810125"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64748B"/>
                </a:solidFill>
                <a:latin typeface="Inter"/>
                <a:ea typeface="Inter"/>
                <a:cs typeface="Inter"/>
                <a:sym typeface="Inter"/>
              </a:rPr>
              <a:t>Identifies high-intensity resource usage.</a:t>
            </a:r>
            <a:endParaRPr/>
          </a:p>
        </p:txBody>
      </p:sp>
      <p:sp>
        <p:nvSpPr>
          <p:cNvPr id="206" name="Google Shape;206;p20"/>
          <p:cNvSpPr txBox="1"/>
          <p:nvPr/>
        </p:nvSpPr>
        <p:spPr>
          <a:xfrm>
            <a:off x="6619875" y="3915667"/>
            <a:ext cx="223837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4. Risk Score (Chronic_Count)</a:t>
            </a:r>
            <a:endParaRPr/>
          </a:p>
        </p:txBody>
      </p:sp>
      <p:sp>
        <p:nvSpPr>
          <p:cNvPr id="207" name="Google Shape;207;p20"/>
          <p:cNvSpPr txBox="1"/>
          <p:nvPr/>
        </p:nvSpPr>
        <p:spPr>
          <a:xfrm>
            <a:off x="6619875" y="4153792"/>
            <a:ext cx="48101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Sum of binary flags for conditions (Diabetes + Heart Attack + Stroke...).</a:t>
            </a:r>
            <a:endParaRPr/>
          </a:p>
        </p:txBody>
      </p:sp>
      <p:sp>
        <p:nvSpPr>
          <p:cNvPr id="208" name="Google Shape;208;p20"/>
          <p:cNvSpPr txBox="1"/>
          <p:nvPr/>
        </p:nvSpPr>
        <p:spPr>
          <a:xfrm>
            <a:off x="6619875" y="4873823"/>
            <a:ext cx="4810125"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64748B"/>
                </a:solidFill>
                <a:latin typeface="Inter"/>
                <a:ea typeface="Inter"/>
                <a:cs typeface="Inter"/>
                <a:sym typeface="Inter"/>
              </a:rPr>
              <a:t>Scaled 0-10 to quantify patient comorbidity.</a:t>
            </a:r>
            <a:endParaRPr/>
          </a:p>
        </p:txBody>
      </p:sp>
      <p:sp>
        <p:nvSpPr>
          <p:cNvPr id="209" name="Google Shape;209;p20"/>
          <p:cNvSpPr txBox="1"/>
          <p:nvPr/>
        </p:nvSpPr>
        <p:spPr>
          <a:xfrm>
            <a:off x="571500" y="5715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Feature Engineering: Derived Columns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1" title="Screenshot 2025-11-27 153947.png"/>
          <p:cNvPicPr preferRelativeResize="0"/>
          <p:nvPr/>
        </p:nvPicPr>
        <p:blipFill rotWithShape="1">
          <a:blip r:embed="rId3">
            <a:alphaModFix/>
          </a:blip>
          <a:srcRect b="-8500" l="-2175" r="-1915" t="-8746"/>
          <a:stretch/>
        </p:blipFill>
        <p:spPr>
          <a:xfrm>
            <a:off x="0" y="0"/>
            <a:ext cx="12191999"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pic>
        <p:nvPicPr>
          <p:cNvPr descr="image.png" id="219" name="Google Shape;219;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0" name="Google Shape;220;p22"/>
          <p:cNvPicPr preferRelativeResize="0"/>
          <p:nvPr/>
        </p:nvPicPr>
        <p:blipFill rotWithShape="1">
          <a:blip r:embed="rId4">
            <a:alphaModFix/>
          </a:blip>
          <a:srcRect b="0" l="0" r="0" t="0"/>
          <a:stretch/>
        </p:blipFill>
        <p:spPr>
          <a:xfrm>
            <a:off x="571500" y="2479327"/>
            <a:ext cx="3492549" cy="2733526"/>
          </a:xfrm>
          <a:prstGeom prst="rect">
            <a:avLst/>
          </a:prstGeom>
          <a:noFill/>
          <a:ln>
            <a:noFill/>
          </a:ln>
        </p:spPr>
      </p:pic>
      <p:pic>
        <p:nvPicPr>
          <p:cNvPr descr="image.png" id="221" name="Google Shape;221;p22"/>
          <p:cNvPicPr preferRelativeResize="0"/>
          <p:nvPr/>
        </p:nvPicPr>
        <p:blipFill rotWithShape="1">
          <a:blip r:embed="rId5">
            <a:alphaModFix/>
          </a:blip>
          <a:srcRect b="0" l="0" r="0" t="0"/>
          <a:stretch/>
        </p:blipFill>
        <p:spPr>
          <a:xfrm>
            <a:off x="4349799" y="2479327"/>
            <a:ext cx="3492549" cy="2733526"/>
          </a:xfrm>
          <a:prstGeom prst="rect">
            <a:avLst/>
          </a:prstGeom>
          <a:noFill/>
          <a:ln>
            <a:noFill/>
          </a:ln>
        </p:spPr>
      </p:pic>
      <p:pic>
        <p:nvPicPr>
          <p:cNvPr descr="image.png" id="222" name="Google Shape;222;p22"/>
          <p:cNvPicPr preferRelativeResize="0"/>
          <p:nvPr/>
        </p:nvPicPr>
        <p:blipFill rotWithShape="1">
          <a:blip r:embed="rId6">
            <a:alphaModFix/>
          </a:blip>
          <a:srcRect b="0" l="0" r="0" t="0"/>
          <a:stretch/>
        </p:blipFill>
        <p:spPr>
          <a:xfrm>
            <a:off x="8128099" y="2479327"/>
            <a:ext cx="3492549" cy="2733526"/>
          </a:xfrm>
          <a:prstGeom prst="rect">
            <a:avLst/>
          </a:prstGeom>
          <a:noFill/>
          <a:ln>
            <a:noFill/>
          </a:ln>
        </p:spPr>
      </p:pic>
      <p:sp>
        <p:nvSpPr>
          <p:cNvPr id="223" name="Google Shape;223;p22"/>
          <p:cNvSpPr txBox="1"/>
          <p:nvPr/>
        </p:nvSpPr>
        <p:spPr>
          <a:xfrm>
            <a:off x="794225"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0369A1"/>
                </a:solidFill>
                <a:latin typeface="Playfair Display"/>
                <a:ea typeface="Playfair Display"/>
                <a:cs typeface="Playfair Display"/>
                <a:sym typeface="Playfair Display"/>
              </a:rPr>
              <a:t>Cost Drivers</a:t>
            </a:r>
            <a:endParaRPr/>
          </a:p>
        </p:txBody>
      </p:sp>
      <p:sp>
        <p:nvSpPr>
          <p:cNvPr id="224" name="Google Shape;224;p22"/>
          <p:cNvSpPr txBox="1"/>
          <p:nvPr/>
        </p:nvSpPr>
        <p:spPr>
          <a:xfrm>
            <a:off x="866775"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Identify how chronic conditions and admission types impact total billing.</a:t>
            </a:r>
            <a:endParaRPr/>
          </a:p>
        </p:txBody>
      </p:sp>
      <p:sp>
        <p:nvSpPr>
          <p:cNvPr id="225" name="Google Shape;225;p22"/>
          <p:cNvSpPr txBox="1"/>
          <p:nvPr/>
        </p:nvSpPr>
        <p:spPr>
          <a:xfrm>
            <a:off x="4572524"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0369A1"/>
                </a:solidFill>
                <a:latin typeface="Playfair Display"/>
                <a:ea typeface="Playfair Display"/>
                <a:cs typeface="Playfair Display"/>
                <a:sym typeface="Playfair Display"/>
              </a:rPr>
              <a:t>Hospital Performance</a:t>
            </a:r>
            <a:endParaRPr/>
          </a:p>
        </p:txBody>
      </p:sp>
      <p:sp>
        <p:nvSpPr>
          <p:cNvPr id="226" name="Google Shape;226;p22"/>
          <p:cNvSpPr txBox="1"/>
          <p:nvPr/>
        </p:nvSpPr>
        <p:spPr>
          <a:xfrm>
            <a:off x="4645074"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Compare average Length of Stay and patient satisfaction across facilities.</a:t>
            </a:r>
            <a:endParaRPr/>
          </a:p>
        </p:txBody>
      </p:sp>
      <p:sp>
        <p:nvSpPr>
          <p:cNvPr id="227" name="Google Shape;227;p22"/>
          <p:cNvSpPr txBox="1"/>
          <p:nvPr/>
        </p:nvSpPr>
        <p:spPr>
          <a:xfrm>
            <a:off x="8350824" y="3431827"/>
            <a:ext cx="3047099"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0369A1"/>
                </a:solidFill>
                <a:latin typeface="Playfair Display"/>
                <a:ea typeface="Playfair Display"/>
                <a:cs typeface="Playfair Display"/>
                <a:sym typeface="Playfair Display"/>
              </a:rPr>
              <a:t>Lifestyle Impact</a:t>
            </a:r>
            <a:endParaRPr/>
          </a:p>
        </p:txBody>
      </p:sp>
      <p:sp>
        <p:nvSpPr>
          <p:cNvPr id="228" name="Google Shape;228;p22"/>
          <p:cNvSpPr txBox="1"/>
          <p:nvPr/>
        </p:nvSpPr>
        <p:spPr>
          <a:xfrm>
            <a:off x="8423374" y="3923258"/>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Evaluate the effect of smoking, alcohol, and vaccinations on health outcomes.</a:t>
            </a:r>
            <a:endParaRPr/>
          </a:p>
        </p:txBody>
      </p:sp>
      <p:pic>
        <p:nvPicPr>
          <p:cNvPr descr="image.png" id="229" name="Google Shape;229;p22"/>
          <p:cNvPicPr preferRelativeResize="0"/>
          <p:nvPr/>
        </p:nvPicPr>
        <p:blipFill rotWithShape="1">
          <a:blip r:embed="rId7">
            <a:alphaModFix/>
          </a:blip>
          <a:srcRect b="0" l="0" r="0" t="0"/>
          <a:stretch/>
        </p:blipFill>
        <p:spPr>
          <a:xfrm>
            <a:off x="2127200" y="2812702"/>
            <a:ext cx="381000" cy="381000"/>
          </a:xfrm>
          <a:prstGeom prst="rect">
            <a:avLst/>
          </a:prstGeom>
          <a:noFill/>
          <a:ln>
            <a:noFill/>
          </a:ln>
        </p:spPr>
      </p:pic>
      <p:pic>
        <p:nvPicPr>
          <p:cNvPr descr="image.png" id="230" name="Google Shape;230;p22"/>
          <p:cNvPicPr preferRelativeResize="0"/>
          <p:nvPr/>
        </p:nvPicPr>
        <p:blipFill rotWithShape="1">
          <a:blip r:embed="rId8">
            <a:alphaModFix/>
          </a:blip>
          <a:srcRect b="0" l="0" r="0" t="0"/>
          <a:stretch/>
        </p:blipFill>
        <p:spPr>
          <a:xfrm>
            <a:off x="5857875" y="2812702"/>
            <a:ext cx="476250" cy="381000"/>
          </a:xfrm>
          <a:prstGeom prst="rect">
            <a:avLst/>
          </a:prstGeom>
          <a:noFill/>
          <a:ln>
            <a:noFill/>
          </a:ln>
        </p:spPr>
      </p:pic>
      <p:pic>
        <p:nvPicPr>
          <p:cNvPr descr="image.png" id="231" name="Google Shape;231;p22"/>
          <p:cNvPicPr preferRelativeResize="0"/>
          <p:nvPr/>
        </p:nvPicPr>
        <p:blipFill rotWithShape="1">
          <a:blip r:embed="rId9">
            <a:alphaModFix/>
          </a:blip>
          <a:srcRect b="0" l="0" r="0" t="0"/>
          <a:stretch/>
        </p:blipFill>
        <p:spPr>
          <a:xfrm>
            <a:off x="9755237" y="2812702"/>
            <a:ext cx="238125" cy="381000"/>
          </a:xfrm>
          <a:prstGeom prst="rect">
            <a:avLst/>
          </a:prstGeom>
          <a:noFill/>
          <a:ln>
            <a:noFill/>
          </a:ln>
        </p:spPr>
      </p:pic>
      <p:sp>
        <p:nvSpPr>
          <p:cNvPr id="232" name="Google Shape;232;p22"/>
          <p:cNvSpPr txBox="1"/>
          <p:nvPr/>
        </p:nvSpPr>
        <p:spPr>
          <a:xfrm>
            <a:off x="571500" y="5715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Analysis Goals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pic>
        <p:nvPicPr>
          <p:cNvPr descr="image.png" id="237" name="Google Shape;237;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8" name="Google Shape;238;p23"/>
          <p:cNvSpPr txBox="1"/>
          <p:nvPr/>
        </p:nvSpPr>
        <p:spPr>
          <a:xfrm>
            <a:off x="571500" y="762000"/>
            <a:ext cx="52006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F172A"/>
                </a:solidFill>
                <a:latin typeface="Playfair Display"/>
                <a:ea typeface="Playfair Display"/>
                <a:cs typeface="Playfair Display"/>
                <a:sym typeface="Playfair Display"/>
              </a:rPr>
              <a:t>Key Insights</a:t>
            </a:r>
            <a:endParaRPr/>
          </a:p>
        </p:txBody>
      </p:sp>
      <p:pic>
        <p:nvPicPr>
          <p:cNvPr id="239" name="Google Shape;239;p23" title="Screenshot 2025-11-27 144509.png"/>
          <p:cNvPicPr preferRelativeResize="0"/>
          <p:nvPr/>
        </p:nvPicPr>
        <p:blipFill rotWithShape="1">
          <a:blip r:embed="rId4">
            <a:alphaModFix/>
          </a:blip>
          <a:srcRect b="1458" l="-730" r="-730" t="-4159"/>
          <a:stretch/>
        </p:blipFill>
        <p:spPr>
          <a:xfrm>
            <a:off x="5432525" y="1402475"/>
            <a:ext cx="6759474" cy="3842851"/>
          </a:xfrm>
          <a:prstGeom prst="rect">
            <a:avLst/>
          </a:prstGeom>
          <a:noFill/>
          <a:ln>
            <a:noFill/>
          </a:ln>
        </p:spPr>
      </p:pic>
      <p:sp>
        <p:nvSpPr>
          <p:cNvPr id="240" name="Google Shape;240;p23"/>
          <p:cNvSpPr txBox="1"/>
          <p:nvPr/>
        </p:nvSpPr>
        <p:spPr>
          <a:xfrm>
            <a:off x="857250" y="2482304"/>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Billing Disparities:</a:t>
            </a:r>
            <a:r>
              <a:rPr b="0" i="0" lang="en-US" sz="1350" u="none" cap="none" strike="noStrike">
                <a:solidFill>
                  <a:srgbClr val="334155"/>
                </a:solidFill>
                <a:latin typeface="Inter"/>
                <a:ea typeface="Inter"/>
                <a:cs typeface="Inter"/>
                <a:sym typeface="Inter"/>
              </a:rPr>
              <a:t> Emergency admissions cost 40% more per day than elective ones.</a:t>
            </a:r>
            <a:endParaRPr/>
          </a:p>
        </p:txBody>
      </p:sp>
      <p:sp>
        <p:nvSpPr>
          <p:cNvPr id="241" name="Google Shape;241;p23"/>
          <p:cNvSpPr txBox="1"/>
          <p:nvPr/>
        </p:nvSpPr>
        <p:spPr>
          <a:xfrm>
            <a:off x="857250" y="3173759"/>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Age Factor:</a:t>
            </a:r>
            <a:r>
              <a:rPr b="0" i="0" lang="en-US" sz="1350" u="none" cap="none" strike="noStrike">
                <a:solidFill>
                  <a:srgbClr val="334155"/>
                </a:solidFill>
                <a:latin typeface="Inter"/>
                <a:ea typeface="Inter"/>
                <a:cs typeface="Inter"/>
                <a:sym typeface="Inter"/>
              </a:rPr>
              <a:t> The 'Age 80+' category accounts for the highest readmission rates.</a:t>
            </a:r>
            <a:endParaRPr/>
          </a:p>
        </p:txBody>
      </p:sp>
      <p:sp>
        <p:nvSpPr>
          <p:cNvPr id="242" name="Google Shape;242;p23"/>
          <p:cNvSpPr txBox="1"/>
          <p:nvPr/>
        </p:nvSpPr>
        <p:spPr>
          <a:xfrm>
            <a:off x="857250" y="3865215"/>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Comorbidities:</a:t>
            </a:r>
            <a:r>
              <a:rPr b="0" i="0" lang="en-US" sz="1350" u="none" cap="none" strike="noStrike">
                <a:solidFill>
                  <a:srgbClr val="334155"/>
                </a:solidFill>
                <a:latin typeface="Inter"/>
                <a:ea typeface="Inter"/>
                <a:cs typeface="Inter"/>
                <a:sym typeface="Inter"/>
              </a:rPr>
              <a:t> Patients with a Risk Score &gt; 3 have a 2x longer Length of Stay.</a:t>
            </a:r>
            <a:endParaRPr/>
          </a:p>
        </p:txBody>
      </p:sp>
      <p:sp>
        <p:nvSpPr>
          <p:cNvPr id="243" name="Google Shape;243;p23"/>
          <p:cNvSpPr txBox="1"/>
          <p:nvPr/>
        </p:nvSpPr>
        <p:spPr>
          <a:xfrm>
            <a:off x="857250" y="4556670"/>
            <a:ext cx="4667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Prevention:</a:t>
            </a:r>
            <a:r>
              <a:rPr b="0" i="0" lang="en-US" sz="1350" u="none" cap="none" strike="noStrike">
                <a:solidFill>
                  <a:srgbClr val="334155"/>
                </a:solidFill>
                <a:latin typeface="Inter"/>
                <a:ea typeface="Inter"/>
                <a:cs typeface="Inter"/>
                <a:sym typeface="Inter"/>
              </a:rPr>
              <a:t> Vaccinated patients showed a lower incidence of severe respiratory complications.</a:t>
            </a:r>
            <a:endParaRPr/>
          </a:p>
        </p:txBody>
      </p:sp>
      <p:pic>
        <p:nvPicPr>
          <p:cNvPr descr="image.png" id="244" name="Google Shape;244;p23"/>
          <p:cNvPicPr preferRelativeResize="0"/>
          <p:nvPr/>
        </p:nvPicPr>
        <p:blipFill rotWithShape="1">
          <a:blip r:embed="rId5">
            <a:alphaModFix/>
          </a:blip>
          <a:srcRect b="0" l="0" r="0" t="0"/>
          <a:stretch/>
        </p:blipFill>
        <p:spPr>
          <a:xfrm>
            <a:off x="571500" y="2520404"/>
            <a:ext cx="152400" cy="180975"/>
          </a:xfrm>
          <a:prstGeom prst="rect">
            <a:avLst/>
          </a:prstGeom>
          <a:noFill/>
          <a:ln>
            <a:noFill/>
          </a:ln>
        </p:spPr>
      </p:pic>
      <p:pic>
        <p:nvPicPr>
          <p:cNvPr descr="image.png" id="245" name="Google Shape;245;p23"/>
          <p:cNvPicPr preferRelativeResize="0"/>
          <p:nvPr/>
        </p:nvPicPr>
        <p:blipFill rotWithShape="1">
          <a:blip r:embed="rId5">
            <a:alphaModFix/>
          </a:blip>
          <a:srcRect b="0" l="0" r="0" t="0"/>
          <a:stretch/>
        </p:blipFill>
        <p:spPr>
          <a:xfrm>
            <a:off x="571500" y="3211859"/>
            <a:ext cx="152400" cy="180975"/>
          </a:xfrm>
          <a:prstGeom prst="rect">
            <a:avLst/>
          </a:prstGeom>
          <a:noFill/>
          <a:ln>
            <a:noFill/>
          </a:ln>
        </p:spPr>
      </p:pic>
      <p:pic>
        <p:nvPicPr>
          <p:cNvPr descr="image.png" id="246" name="Google Shape;246;p23"/>
          <p:cNvPicPr preferRelativeResize="0"/>
          <p:nvPr/>
        </p:nvPicPr>
        <p:blipFill rotWithShape="1">
          <a:blip r:embed="rId5">
            <a:alphaModFix/>
          </a:blip>
          <a:srcRect b="0" l="0" r="0" t="0"/>
          <a:stretch/>
        </p:blipFill>
        <p:spPr>
          <a:xfrm>
            <a:off x="571500" y="3903315"/>
            <a:ext cx="152400" cy="180975"/>
          </a:xfrm>
          <a:prstGeom prst="rect">
            <a:avLst/>
          </a:prstGeom>
          <a:noFill/>
          <a:ln>
            <a:noFill/>
          </a:ln>
        </p:spPr>
      </p:pic>
      <p:pic>
        <p:nvPicPr>
          <p:cNvPr descr="image.png" id="247" name="Google Shape;247;p23"/>
          <p:cNvPicPr preferRelativeResize="0"/>
          <p:nvPr/>
        </p:nvPicPr>
        <p:blipFill rotWithShape="1">
          <a:blip r:embed="rId5">
            <a:alphaModFix/>
          </a:blip>
          <a:srcRect b="0" l="0" r="0" t="0"/>
          <a:stretch/>
        </p:blipFill>
        <p:spPr>
          <a:xfrm>
            <a:off x="571500" y="4594770"/>
            <a:ext cx="152400" cy="18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51" name="Shape 251"/>
        <p:cNvGrpSpPr/>
        <p:nvPr/>
      </p:nvGrpSpPr>
      <p:grpSpPr>
        <a:xfrm>
          <a:off x="0" y="0"/>
          <a:ext cx="0" cy="0"/>
          <a:chOff x="0" y="0"/>
          <a:chExt cx="0" cy="0"/>
        </a:xfrm>
      </p:grpSpPr>
      <p:pic>
        <p:nvPicPr>
          <p:cNvPr descr="image.png" id="252" name="Google Shape;252;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3" name="Google Shape;253;p24"/>
          <p:cNvPicPr preferRelativeResize="0"/>
          <p:nvPr/>
        </p:nvPicPr>
        <p:blipFill rotWithShape="1">
          <a:blip r:embed="rId4">
            <a:alphaModFix/>
          </a:blip>
          <a:srcRect b="0" l="0" r="0" t="0"/>
          <a:stretch/>
        </p:blipFill>
        <p:spPr>
          <a:xfrm>
            <a:off x="6381750" y="1750665"/>
            <a:ext cx="5238750" cy="4286250"/>
          </a:xfrm>
          <a:prstGeom prst="rect">
            <a:avLst/>
          </a:prstGeom>
          <a:noFill/>
          <a:ln>
            <a:noFill/>
          </a:ln>
        </p:spPr>
      </p:pic>
      <p:sp>
        <p:nvSpPr>
          <p:cNvPr id="254" name="Google Shape;254;p24"/>
          <p:cNvSpPr txBox="1"/>
          <p:nvPr/>
        </p:nvSpPr>
        <p:spPr>
          <a:xfrm>
            <a:off x="295275" y="571500"/>
            <a:ext cx="11601450" cy="5485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600" u="none" cap="none" strike="noStrike">
                <a:solidFill>
                  <a:srgbClr val="FFFFFF"/>
                </a:solidFill>
                <a:latin typeface="Playfair Display"/>
                <a:ea typeface="Playfair Display"/>
                <a:cs typeface="Playfair Display"/>
                <a:sym typeface="Playfair Display"/>
              </a:rPr>
              <a:t>Project Impact</a:t>
            </a:r>
            <a:endParaRPr/>
          </a:p>
        </p:txBody>
      </p:sp>
      <p:sp>
        <p:nvSpPr>
          <p:cNvPr id="255" name="Google Shape;255;p24"/>
          <p:cNvSpPr txBox="1"/>
          <p:nvPr/>
        </p:nvSpPr>
        <p:spPr>
          <a:xfrm>
            <a:off x="571500" y="2876550"/>
            <a:ext cx="5500687"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38BDF8"/>
                </a:solidFill>
                <a:latin typeface="Playfair Display"/>
                <a:ea typeface="Playfair Display"/>
                <a:cs typeface="Playfair Display"/>
                <a:sym typeface="Playfair Display"/>
              </a:rPr>
              <a:t>Strategic Value</a:t>
            </a:r>
            <a:endParaRPr/>
          </a:p>
        </p:txBody>
      </p:sp>
      <p:sp>
        <p:nvSpPr>
          <p:cNvPr id="256" name="Google Shape;256;p24"/>
          <p:cNvSpPr txBox="1"/>
          <p:nvPr/>
        </p:nvSpPr>
        <p:spPr>
          <a:xfrm>
            <a:off x="571500" y="3367980"/>
            <a:ext cx="5238750"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This analysis empowers stakeholders to move from reactive care to proactive health management. By understanding the cost drivers and risk factors, hospitals can implement targeted interventions that improve patient outcomes while ensuring financial sustainability.</a:t>
            </a:r>
            <a:endParaRPr/>
          </a:p>
        </p:txBody>
      </p:sp>
      <p:pic>
        <p:nvPicPr>
          <p:cNvPr id="257" name="Google Shape;257;p24" title="Screenshot 2025-11-27 144353.png"/>
          <p:cNvPicPr preferRelativeResize="0"/>
          <p:nvPr/>
        </p:nvPicPr>
        <p:blipFill rotWithShape="1">
          <a:blip r:embed="rId5">
            <a:alphaModFix/>
          </a:blip>
          <a:srcRect b="0" l="15603" r="15596" t="0"/>
          <a:stretch/>
        </p:blipFill>
        <p:spPr>
          <a:xfrm>
            <a:off x="6391275" y="1760190"/>
            <a:ext cx="5219701" cy="42672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pic>
        <p:nvPicPr>
          <p:cNvPr descr="image.png" id="262" name="Google Shape;262;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3" name="Google Shape;263;p25"/>
          <p:cNvSpPr txBox="1"/>
          <p:nvPr/>
        </p:nvSpPr>
        <p:spPr>
          <a:xfrm>
            <a:off x="295275" y="1720304"/>
            <a:ext cx="11601450" cy="91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6000" u="none" cap="none" strike="noStrike">
                <a:solidFill>
                  <a:srgbClr val="0F172A"/>
                </a:solidFill>
                <a:latin typeface="Playfair Display"/>
                <a:ea typeface="Playfair Display"/>
                <a:cs typeface="Playfair Display"/>
                <a:sym typeface="Playfair Display"/>
              </a:rPr>
              <a:t>Q &amp; A</a:t>
            </a:r>
            <a:endParaRPr/>
          </a:p>
        </p:txBody>
      </p:sp>
      <p:sp>
        <p:nvSpPr>
          <p:cNvPr id="264" name="Google Shape;264;p25"/>
          <p:cNvSpPr txBox="1"/>
          <p:nvPr/>
        </p:nvSpPr>
        <p:spPr>
          <a:xfrm>
            <a:off x="571500" y="3053804"/>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Healthcare Data Analysis Project</a:t>
            </a:r>
            <a:endParaRPr/>
          </a:p>
        </p:txBody>
      </p:sp>
      <p:sp>
        <p:nvSpPr>
          <p:cNvPr id="265" name="Google Shape;265;p25"/>
          <p:cNvSpPr txBox="1"/>
          <p:nvPr/>
        </p:nvSpPr>
        <p:spPr>
          <a:xfrm>
            <a:off x="571500" y="4295775"/>
            <a:ext cx="110490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Digital Egypt Pioneers Grant Project</a:t>
            </a:r>
            <a:endParaRPr/>
          </a:p>
        </p:txBody>
      </p:sp>
      <p:sp>
        <p:nvSpPr>
          <p:cNvPr id="266" name="Google Shape;266;p25"/>
          <p:cNvSpPr txBox="1"/>
          <p:nvPr/>
        </p:nvSpPr>
        <p:spPr>
          <a:xfrm>
            <a:off x="571500" y="4741515"/>
            <a:ext cx="1104900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Data Analysis Track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6"/>
          <p:cNvSpPr txBox="1"/>
          <p:nvPr/>
        </p:nvSpPr>
        <p:spPr>
          <a:xfrm>
            <a:off x="13686125" y="212900"/>
            <a:ext cx="3970500" cy="59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descr="image.png" id="272" name="Google Shape;27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3" name="Google Shape;273;p26"/>
          <p:cNvSpPr txBox="1"/>
          <p:nvPr/>
        </p:nvSpPr>
        <p:spPr>
          <a:xfrm>
            <a:off x="1919950" y="866600"/>
            <a:ext cx="8049600" cy="493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2100">
                <a:solidFill>
                  <a:srgbClr val="0369A1"/>
                </a:solidFill>
                <a:latin typeface="Playfair Display"/>
                <a:ea typeface="Playfair Display"/>
                <a:cs typeface="Playfair Display"/>
                <a:sym typeface="Playfair Display"/>
              </a:rPr>
              <a:t>Project Team Members </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rPr b="1" lang="en-US" sz="2100">
                <a:solidFill>
                  <a:srgbClr val="0369A1"/>
                </a:solidFill>
                <a:latin typeface="Playfair Display"/>
                <a:ea typeface="Playfair Display"/>
                <a:cs typeface="Playfair Display"/>
                <a:sym typeface="Playfair Display"/>
              </a:rPr>
              <a:t>Mohammed Mahmoud Farouk</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rPr b="1" lang="en-US" sz="2100">
                <a:solidFill>
                  <a:srgbClr val="0369A1"/>
                </a:solidFill>
                <a:latin typeface="Playfair Display"/>
                <a:ea typeface="Playfair Display"/>
                <a:cs typeface="Playfair Display"/>
                <a:sym typeface="Playfair Display"/>
              </a:rPr>
              <a:t>Safa Ahmed Salah</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rPr b="1" lang="en-US" sz="2100">
                <a:solidFill>
                  <a:srgbClr val="0369A1"/>
                </a:solidFill>
                <a:latin typeface="Playfair Display"/>
                <a:ea typeface="Playfair Display"/>
                <a:cs typeface="Playfair Display"/>
                <a:sym typeface="Playfair Display"/>
              </a:rPr>
              <a:t>Hajar Mohammed Hamed</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rPr b="1" lang="en-US" sz="2100">
                <a:solidFill>
                  <a:srgbClr val="0369A1"/>
                </a:solidFill>
                <a:latin typeface="Playfair Display"/>
                <a:ea typeface="Playfair Display"/>
                <a:cs typeface="Playfair Display"/>
                <a:sym typeface="Playfair Display"/>
              </a:rPr>
              <a:t>Ahmed Ragab Abdullah</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rPr b="1" lang="en-US" sz="2100">
                <a:solidFill>
                  <a:srgbClr val="0369A1"/>
                </a:solidFill>
                <a:latin typeface="Playfair Display"/>
                <a:ea typeface="Playfair Display"/>
                <a:cs typeface="Playfair Display"/>
                <a:sym typeface="Playfair Display"/>
              </a:rPr>
              <a:t>Mostafa Karem Mahmoud</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t/>
            </a:r>
            <a:endParaRPr b="1" sz="2100">
              <a:solidFill>
                <a:srgbClr val="0369A1"/>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rPr b="1" lang="en-US" sz="2100">
                <a:solidFill>
                  <a:srgbClr val="0369A1"/>
                </a:solidFill>
                <a:latin typeface="Playfair Display"/>
                <a:ea typeface="Playfair Display"/>
                <a:cs typeface="Playfair Display"/>
                <a:sym typeface="Playfair Display"/>
              </a:rPr>
              <a:t>HossamEldin Refaat Mohammed </a:t>
            </a:r>
            <a:endParaRPr sz="3200">
              <a:solidFill>
                <a:schemeClr val="dk1"/>
              </a:solidFill>
              <a:latin typeface="Comic Sans MS"/>
              <a:ea typeface="Comic Sans MS"/>
              <a:cs typeface="Comic Sans MS"/>
              <a:sym typeface="Comic Sans MS"/>
            </a:endParaRPr>
          </a:p>
          <a:p>
            <a:pPr indent="0" lvl="0" marL="0" rtl="0" algn="ctr">
              <a:spcBef>
                <a:spcPts val="0"/>
              </a:spcBef>
              <a:spcAft>
                <a:spcPts val="0"/>
              </a:spcAft>
              <a:buClr>
                <a:schemeClr val="dk1"/>
              </a:buClr>
              <a:buSzPts val="1100"/>
              <a:buFont typeface="Arial"/>
              <a:buNone/>
            </a:pPr>
            <a:r>
              <a:t/>
            </a:r>
            <a:endParaRPr sz="3200">
              <a:solidFill>
                <a:schemeClr val="dk1"/>
              </a:solidFill>
              <a:latin typeface="Comic Sans MS"/>
              <a:ea typeface="Comic Sans MS"/>
              <a:cs typeface="Comic Sans MS"/>
              <a:sym typeface="Comic Sans MS"/>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